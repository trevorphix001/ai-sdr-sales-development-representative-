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760BBD-AA0A-F14A-9A60-2E5E8663B5EF}">
          <p14:sldIdLst>
            <p14:sldId id="256"/>
            <p14:sldId id="257"/>
            <p14:sldId id="258"/>
          </p14:sldIdLst>
        </p14:section>
        <p14:section name="Architecture" id="{3A580F34-0F93-1257-D6AC-A917DA7E1AB5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nalysis" id="{527AE713-B9E6-2E75-385B-73164469BDA6}">
          <p14:sldIdLst>
            <p14:sldId id="266"/>
            <p14:sldId id="267"/>
            <p14:sldId id="268"/>
            <p14:sldId id="269"/>
          </p14:sldIdLst>
        </p14:section>
        <p14:section name="Wrap-up" id="{1419DE62-44CF-2CD2-459E-6173EE865595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28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24128"/>
            <a:ext cx="8229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0584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1"/>
                </a:solidFill>
              </a:rPr>
              <a:t>AI-Powered SDR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2"/>
                </a:solidFill>
              </a:rPr>
              <a:t>Sequential Multi-Agent System for Personalized Sales Outreach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24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4114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Python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68880" y="4114800"/>
            <a:ext cx="32004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472" y="42245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7180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NVIDIA Nemotron 3.5 Lightning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52160" y="4114800"/>
            <a:ext cx="16916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42245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5508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Pydantic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31520" y="4709160"/>
            <a:ext cx="28346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81888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Multi-Agent AI Architecture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2"/>
                </a:solidFill>
              </a:rPr>
              <a:t>B.Tech CSE · Internship Project · Nirupam Ghosh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Generic sales emails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Manual prospect research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66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Time-consuming company research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3566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2004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Limited personalization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3017520"/>
            <a:ext cx="3566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347472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2004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Repetitive SDR workflows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720" y="3017520"/>
            <a:ext cx="3566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347472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32004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Difficulty maintaining consistent research quality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6868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An AI-powered sequential multi-agent pipeline that researches prospects, analyzes companies, and generates personalized sales emails.</a:t>
            </a:r>
            <a:endParaRPr lang="en-US" sz="1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Proposed Solution: High-Level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75688" y="228600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59736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51176" y="1691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51176" y="1965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Orchestrator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86784" y="228600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70832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62272" y="1691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1965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Prospect Research Agent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228600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81928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3368" y="1691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1965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Company Intelligence 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08976" y="228600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93024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84464" y="1691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1965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Email Writer Agent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720072" y="228600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04120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195560" y="1691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95560" y="1965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Personalized Email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52044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3685032"/>
            <a:ext cx="64008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Sequential execution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1605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Agents run one after another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agent has one focused job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97680" y="352044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15968" y="3685032"/>
            <a:ext cx="64008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2628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Structured hand-off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41605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Each agent returns a Pydantic-validated object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Downstream agents receive it as context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46720" y="352044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65008" y="3685032"/>
            <a:ext cx="6400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7532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Shared LLM layer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1605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All three agents call the NVIDIA Nemotron 3.5 Lightning API</a:t>
            </a:r>
            <a:endParaRPr lang="en-US" sz="12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Architecture</a:t>
            </a:r>
            <a:endParaRPr lang="en-US" sz="2800" dirty="0"/>
          </a:p>
        </p:txBody>
      </p:sp>
      <p:pic>
        <p:nvPicPr>
          <p:cNvPr id="3" name="Image 0" descr="AI SDR system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34440"/>
            <a:ext cx="10241280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Agent 1: Prospect Research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333756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536192"/>
            <a:ext cx="64008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Responsibilities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Research prospect background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Identify professional role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Identify interests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 relevant recent activities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Extract useful personalization signals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4937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Prospect Information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37560" y="4937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OUTPUT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Pydantic ProspectResearch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Prospect Input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029968"/>
            <a:ext cx="0" cy="2834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33172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LLM (Nemotron API)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2990088"/>
            <a:ext cx="0" cy="2834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9360" y="329184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Research Findings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15400" y="3950208"/>
            <a:ext cx="0" cy="2834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425196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0" y="4251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Structured Schema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ProspectResearch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5120640"/>
            <a:ext cx="521208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First agent in the chain: it starts from raw user input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Agent 2: Company Intelligence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333756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536192"/>
            <a:ext cx="64008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Responsibilities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Analyze the prospect's company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Identify company initiatives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 potential pain points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Identify recent news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Identify business priorities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Extract company-level context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4937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ProspectResearch + Company Info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37560" y="4937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OUTPUT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Pydantic CompanyIntelligence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51460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371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ProspectResearch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from Agent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371600"/>
            <a:ext cx="251460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98280" y="1371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Company Info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user input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15400" y="2029968"/>
            <a:ext cx="0" cy="2834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233172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Company Intelligence Agent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5400" y="2990088"/>
            <a:ext cx="0" cy="2834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9360" y="329184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LLM (Nemotron API)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15400" y="3950208"/>
            <a:ext cx="0" cy="2834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09360" y="425196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0800" y="4251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Structured Schema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CompanyIntelligence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5120640"/>
            <a:ext cx="521208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Agent 1's output becomes context for Agent 2.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Agent 3: Email Writer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333756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536192"/>
            <a:ext cx="64008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Responsibilities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Combine prospect research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Combine company intelligence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Understand the product/service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Generate personalized messaging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Adapt tone and value proposition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Produce a clear call to 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4937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Research + Intelligence + Product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37560" y="4937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OUTPUT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Pydantic SalesEmail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16154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371600"/>
            <a:ext cx="143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Research 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ProspectResearch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7680" y="1371600"/>
            <a:ext cx="16154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199120" y="1371600"/>
            <a:ext cx="143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Company 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CompanyIntelligence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906000" y="1371600"/>
            <a:ext cx="16154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997440" y="1371600"/>
            <a:ext cx="143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Product 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description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0" y="2029968"/>
            <a:ext cx="0" cy="2834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233172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Email Writer Agent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15400" y="2990088"/>
            <a:ext cx="0" cy="2834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3291840"/>
            <a:ext cx="5212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Personalized Sales Email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validated as SalesEmail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5120640"/>
            <a:ext cx="521208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Receives both ProspectResearch and CompanyIntelligence as context.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LLM Layer: NVIDIA Nemotron 3.5 Lightning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25880" y="137160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32588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Agent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Prospect Research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51760" y="2212848"/>
            <a:ext cx="0" cy="8778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92040" y="137160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Agent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Company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212848"/>
            <a:ext cx="0" cy="8778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137160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5820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Agent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Email Writer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784080" y="2212848"/>
            <a:ext cx="0" cy="8778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108960"/>
            <a:ext cx="11064240" cy="960120"/>
          </a:xfrm>
          <a:prstGeom prst="roundRect">
            <a:avLst>
              <a:gd name="adj" fmla="val 9524"/>
            </a:avLst>
          </a:prstGeom>
          <a:solidFill>
            <a:schemeClr val="accent3">
              <a:alpha val="12000"/>
            </a:schemeClr>
          </a:solidFill>
          <a:ln w="22225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33756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3520440" y="310896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NVIDIA Nemotron 3.5 Lightning API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Shared LLM layer for structured outputs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21031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4434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Central language-model layer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88920" y="4434840"/>
            <a:ext cx="21031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926080" y="4434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Used by all three agents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0" y="4434840"/>
            <a:ext cx="21031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166360" y="4434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Handles structured chat completions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69480" y="4434840"/>
            <a:ext cx="21031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406640" y="4434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Generates agent-specific outputs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509760" y="4434840"/>
            <a:ext cx="21031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646920" y="4434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Enables reasoning and natural-language generation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Descriptive overview only; no benchmark or performance claims are made.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Structured Output with Pydantic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6060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25880"/>
            <a:ext cx="3566160" cy="548640"/>
          </a:xfrm>
          <a:prstGeom prst="roundRect">
            <a:avLst>
              <a:gd name="adj" fmla="val 16667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ProspectResearch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prospect_details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recent_activities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325880"/>
            <a:ext cx="3566160" cy="26060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0" y="1325880"/>
            <a:ext cx="3566160" cy="548640"/>
          </a:xfrm>
          <a:prstGeom prst="roundRect">
            <a:avLst>
              <a:gd name="adj" fmla="val 16667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CompanyIntelligence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company_overview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pain_points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recent_news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initiatives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566160" cy="26060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0" y="1325880"/>
            <a:ext cx="3566160" cy="548640"/>
          </a:xfrm>
          <a:prstGeom prst="roundRect">
            <a:avLst>
              <a:gd name="adj" fmla="val 16667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SalesEmail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11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personalized_email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key_value_points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call_to_action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Why Pydantic schemas?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5262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Consistent output format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88920" y="4526280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98648" y="45262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Validation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0" y="4526280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38928" y="45262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Type safety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69480" y="4526280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79208" y="45262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Reliable agent-to-agent communication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09760" y="4526280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19488" y="45262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Easier integration with Python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Pydantic validates structured outputs; it is a validation layer, not an LLM. Nemotron is the LLM.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End-to-End Data Flow</a:t>
            </a:r>
            <a:endParaRPr lang="en-US" sz="2800" dirty="0"/>
          </a:p>
        </p:txBody>
      </p:sp>
      <p:pic>
        <p:nvPicPr>
          <p:cNvPr id="3" name="Image 0" descr="AI SDR numbered data flow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7223760" cy="3611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9560" y="1362456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09560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1325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User provides prospect and product information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909560" y="1764792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2821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Orchestrator validates inputs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2167128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1305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Prospect Research Agent sends structured prompt to Nemotron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09560" y="2569464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5328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Prospect research validated with Pydantic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09560" y="297180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0956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9352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ProspectResearch passed to Company Intelligence Agent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909560" y="3374136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0956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Company Intelligence Agent calls Nemotron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09560" y="3776472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0956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7398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Company intelligence validated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909560" y="4178808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0956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41422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Research + intelligence passed to Email Writer Agent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09560" y="4581144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0956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321040" y="45445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Email Writer Agent calls Nemotron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909560" y="498348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09560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946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SalesEmail validated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909560" y="5385816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09560" y="5385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321040" y="5349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Final payload returns to orchestrator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909560" y="5788152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909560" y="5788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321040" y="57515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</a:rPr>
              <a:t>Personalized email rendered in the UI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534924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864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Orchestrator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2331720" y="534924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33172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Agents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114800" y="534924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11480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Nemotron LLM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897880" y="534924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89788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Pydantic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Why Sequential Multi-Agent Architecture?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11480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Single Agent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48463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One large prompt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8463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834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Mixed responsibilities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48463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657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Difficult debugging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48463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Less modular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5394960" cy="411480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Sequential Multi-Agent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92240" y="2011680"/>
            <a:ext cx="484632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Specialized responsibilities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92240" y="2542032"/>
            <a:ext cx="484632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2542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Structured intermediate outputs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3072384"/>
            <a:ext cx="484632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0723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Clear data 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92240" y="3602736"/>
            <a:ext cx="484632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6027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Easier debugging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92240" y="4133088"/>
            <a:ext cx="484632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Modular architecture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92240" y="4663440"/>
            <a:ext cx="484632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tx1"/>
                </a:solidFill>
              </a:rPr>
              <a:t>→  Better separation of concerns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2"/>
                </a:solidFill>
              </a:rPr>
              <a:t>Architectural trade-offs and intended benefits, not a claim that multi-agent systems are universally superior. Extra LLM calls add latency and cost (see Limitations).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Programming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0" y="1371600"/>
            <a:ext cx="79552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80560" y="13716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331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AI / LLM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0" y="2331720"/>
            <a:ext cx="79552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514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3317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NVIDIA Nemotron 3.5 Lightning API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31520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 Architecture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657600" y="3291840"/>
            <a:ext cx="79552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4747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80560" y="32918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Sequential Multi-Agent Orchestration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25196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31520" y="4251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Data Validation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657600" y="4251960"/>
            <a:ext cx="79552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44348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80560" y="4251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Pydantic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21208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31520" y="5212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Application Layer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3657600" y="5212080"/>
            <a:ext cx="3840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53949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Orchestrator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772400" y="5212080"/>
            <a:ext cx="3840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5394960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59536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UI / Output Renderer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 Execution (Illustrative Run)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Input</a:t>
            </a:r>
            <a:endParaRPr lang="en-US" sz="1200" dirty="0"/>
          </a:p>
        </p:txBody>
      </p:sp>
      <p:pic>
        <p:nvPicPr>
          <p:cNvPr id="4" name="Image 0" descr="In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2651760" cy="4062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2651760" cy="4062888"/>
          </a:xfrm>
          <a:prstGeom prst="rect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3832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Agent 1: Prospect insights</a:t>
            </a:r>
            <a:endParaRPr lang="en-US" sz="1200" dirty="0"/>
          </a:p>
        </p:txBody>
      </p:sp>
      <p:pic>
        <p:nvPicPr>
          <p:cNvPr id="7" name="Image 1" descr="Agent 1: Prospect insigh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91640"/>
            <a:ext cx="2651760" cy="32104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83280" y="1691640"/>
            <a:ext cx="2651760" cy="3210407"/>
          </a:xfrm>
          <a:prstGeom prst="rect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Agent 2: Company insights + pain points</a:t>
            </a:r>
            <a:endParaRPr lang="en-US" sz="1200" dirty="0"/>
          </a:p>
        </p:txBody>
      </p:sp>
      <p:pic>
        <p:nvPicPr>
          <p:cNvPr id="10" name="Image 2" descr="Agent 2: Company insights + pain poi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91640"/>
            <a:ext cx="2651760" cy="399033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17920" y="1691640"/>
            <a:ext cx="2651760" cy="3990337"/>
          </a:xfrm>
          <a:prstGeom prst="rect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05256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Agent 3: Personalized email</a:t>
            </a:r>
            <a:endParaRPr lang="en-US" sz="1200" dirty="0"/>
          </a:p>
        </p:txBody>
      </p:sp>
      <p:pic>
        <p:nvPicPr>
          <p:cNvPr id="13" name="Image 3" descr="Agent 3: Personalized emai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1691640"/>
            <a:ext cx="2651760" cy="341355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052560" y="1691640"/>
            <a:ext cx="2651760" cy="3413552"/>
          </a:xfrm>
          <a:prstGeom prst="rect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tx2"/>
                </a:solidFill>
              </a:rPr>
              <a:t>Screenshots of the running application using example data (OpenAI, CEO). Illustrative output of an AI model, not verified real research.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Advantages and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4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14884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Modular architecture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Specialized agents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Structured intermediate data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Reusable components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Easier debugging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Consistent output format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Scalable workflow design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17920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08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9516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3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537960" y="214884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Multiple LLM calls increase latency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API usage can increase cost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Research quality depends on available information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LLM outputs still require validation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Sequential execution can create bottlenecks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External research integrations may be required for real-time data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00400" cy="47548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32004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Current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2697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Sequential 3-agent SDR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94760" y="374904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1371600"/>
            <a:ext cx="3200400" cy="47548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371600"/>
            <a:ext cx="32004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Next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40280"/>
            <a:ext cx="2697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Web search/research tools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CRM integration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Email delivery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Lead scoring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Feedback loop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374904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1371600"/>
            <a:ext cx="3200400" cy="47548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95360" y="1371600"/>
            <a:ext cx="320040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Advanced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2240280"/>
            <a:ext cx="2697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Parallel research agents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Memory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Automated follow-ups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Human-in-the-loop approval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Performance analytics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Agent evaluation framework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The system combines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459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orchestration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83080"/>
            <a:ext cx="365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+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0" y="1783080"/>
            <a:ext cx="16459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51760" y="1783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Specialized AI agents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783080"/>
            <a:ext cx="365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+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16459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783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NVIDIA Nemotron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783080"/>
            <a:ext cx="365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583680" y="1783080"/>
            <a:ext cx="16459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22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75120" y="1783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Pydantic structured outputs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41080" y="2423160"/>
            <a:ext cx="502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1783080"/>
            <a:ext cx="237744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72600" y="1783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Automated workflow for personalized sales outreach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name="adj" fmla="val 5263"/>
            </a:avLst>
          </a:prstGeom>
          <a:solidFill>
            <a:schemeClr val="accent2">
              <a:alpha val="10000"/>
            </a:schemeClr>
          </a:solidFill>
          <a:ln w="15875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3931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chemeClr val="accent2"/>
                </a:solidFill>
              </a:rPr>
              <a:t>“From raw prospect information to a personalized sales conversation.”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SDR">
  <a:themeElements>
    <a:clrScheme name="AI SDR">
      <a:dk1>
        <a:srgbClr val="1E293B"/>
      </a:dk1>
      <a:lt1>
        <a:srgbClr val="FFFFFF"/>
      </a:lt1>
      <a:dk2>
        <a:srgbClr val="475569"/>
      </a:dk2>
      <a:lt2>
        <a:srgbClr val="F5F7FB"/>
      </a:lt2>
      <a:accent1>
        <a:srgbClr val="2563EB"/>
      </a:accent1>
      <a:accent2>
        <a:srgbClr val="7C3AED"/>
      </a:accent2>
      <a:accent3>
        <a:srgbClr val="EA8A0C"/>
      </a:accent3>
      <a:accent4>
        <a:srgbClr val="16A34A"/>
      </a:accent4>
      <a:accent5>
        <a:srgbClr val="64748B"/>
      </a:accent5>
      <a:accent6>
        <a:srgbClr val="0EA5E9"/>
      </a:accent6>
      <a:hlink>
        <a:srgbClr val="2563EB"/>
      </a:hlink>
      <a:folHlink>
        <a:srgbClr val="7C3AED"/>
      </a:folHlink>
    </a:clrScheme>
    <a:fontScheme name="AI SD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858</Words>
  <Application>Microsoft Office PowerPoint</Application>
  <PresentationFormat>Widescreen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AI SDR</vt:lpstr>
      <vt:lpstr>PowerPoint Presentation</vt:lpstr>
      <vt:lpstr>Problem Statement</vt:lpstr>
      <vt:lpstr>Proposed Solution: High-Level Pipeline</vt:lpstr>
      <vt:lpstr>System Architecture</vt:lpstr>
      <vt:lpstr>Agent 1: Prospect Research Agent</vt:lpstr>
      <vt:lpstr>Agent 2: Company Intelligence Agent</vt:lpstr>
      <vt:lpstr>Agent 3: Email Writer Agent</vt:lpstr>
      <vt:lpstr>LLM Layer: NVIDIA Nemotron 3.5 Lightning API</vt:lpstr>
      <vt:lpstr>Structured Output with Pydantic</vt:lpstr>
      <vt:lpstr>End-to-End Data Flow</vt:lpstr>
      <vt:lpstr>Why Sequential Multi-Agent Architecture?</vt:lpstr>
      <vt:lpstr>Technology Stack</vt:lpstr>
      <vt:lpstr>Example Execution (Illustrative Run)</vt:lpstr>
      <vt:lpstr>Advantages and Limitations</vt:lpstr>
      <vt:lpstr>Future Enhancements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SDR</dc:title>
  <dc:subject>PptxGenJS Presentation</dc:subject>
  <dc:creator>PptxGenJS</dc:creator>
  <cp:lastModifiedBy>Devika Ghosh</cp:lastModifiedBy>
  <cp:revision>2</cp:revision>
  <dcterms:created xsi:type="dcterms:W3CDTF">2026-10-02T20:15:39Z</dcterms:created>
  <dcterms:modified xsi:type="dcterms:W3CDTF">2026-10-02T20:19:52Z</dcterms:modified>
</cp:coreProperties>
</file>